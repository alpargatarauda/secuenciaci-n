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7" r:id="rId5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F69EE5-431B-433C-AD8F-E0C82CD9437A}" v="27" dt="2025-12-21T16:10:52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66" d="100"/>
          <a:sy n="66" d="100"/>
        </p:scale>
        <p:origin x="21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21/12/2025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41A3D-E56A-6A90-DD91-76A3ADF8E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5C953506-346C-A8BF-67B5-F34567C6BC6E}"/>
              </a:ext>
            </a:extLst>
          </p:cNvPr>
          <p:cNvGrpSpPr/>
          <p:nvPr/>
        </p:nvGrpSpPr>
        <p:grpSpPr>
          <a:xfrm>
            <a:off x="225180" y="7007139"/>
            <a:ext cx="14668990" cy="9973751"/>
            <a:chOff x="225180" y="7982052"/>
            <a:chExt cx="14668990" cy="9973751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C870726C-A1BB-2615-E2FF-5658152644CA}"/>
                </a:ext>
              </a:extLst>
            </p:cNvPr>
            <p:cNvSpPr/>
            <p:nvPr/>
          </p:nvSpPr>
          <p:spPr>
            <a:xfrm>
              <a:off x="225180" y="8371594"/>
              <a:ext cx="14668990" cy="9584209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43F36DFC-F638-779B-0878-B5E8AD53AD3E}"/>
                </a:ext>
              </a:extLst>
            </p:cNvPr>
            <p:cNvSpPr/>
            <p:nvPr/>
          </p:nvSpPr>
          <p:spPr>
            <a:xfrm>
              <a:off x="496034" y="7982052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5FCC48C4-680E-DC53-FF73-95EB091356FB}"/>
              </a:ext>
            </a:extLst>
          </p:cNvPr>
          <p:cNvGrpSpPr/>
          <p:nvPr/>
        </p:nvGrpSpPr>
        <p:grpSpPr>
          <a:xfrm>
            <a:off x="225180" y="3484254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FEB7D3ED-CF02-C938-2FA1-39EE97AC2AA9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r>
                <a:rPr lang="es-ES" dirty="0">
                  <a:solidFill>
                    <a:schemeClr val="tx1"/>
                  </a:solidFill>
                </a:rPr>
                <a:t>Se analiza el perfil </a:t>
              </a:r>
              <a:r>
                <a:rPr lang="es-ES" dirty="0" err="1">
                  <a:solidFill>
                    <a:schemeClr val="tx1"/>
                  </a:solidFill>
                </a:rPr>
                <a:t>transcriptómico</a:t>
              </a:r>
              <a:r>
                <a:rPr lang="es-ES" dirty="0">
                  <a:solidFill>
                    <a:schemeClr val="tx1"/>
                  </a:solidFill>
                </a:rPr>
                <a:t> de una familia con fenotipos de obesidad severa frente a controles </a:t>
              </a:r>
              <a:r>
                <a:rPr lang="es-ES" dirty="0" err="1">
                  <a:solidFill>
                    <a:schemeClr val="tx1"/>
                  </a:solidFill>
                </a:rPr>
                <a:t>normopeso</a:t>
              </a:r>
              <a:r>
                <a:rPr lang="es-ES" dirty="0">
                  <a:solidFill>
                    <a:schemeClr val="tx1"/>
                  </a:solidFill>
                </a:rPr>
                <a:t>. El objetivo es identificar variantes de expresión génica que expliquen la disrupción de la homeostasis energética bajo la hipótesis de una causa genética molecular subyacente. 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3945C9BD-E878-C904-BB12-F0BA2D1763CA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7B23F5A3-8FA4-BB38-32D0-0ECAD0F925F2}"/>
              </a:ext>
            </a:extLst>
          </p:cNvPr>
          <p:cNvGrpSpPr/>
          <p:nvPr/>
        </p:nvGrpSpPr>
        <p:grpSpPr>
          <a:xfrm>
            <a:off x="207596" y="5235817"/>
            <a:ext cx="14668990" cy="1746181"/>
            <a:chOff x="207596" y="6110487"/>
            <a:chExt cx="14668990" cy="1746181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CB14F1FF-25D2-FA75-CD9F-A24420348853}"/>
                </a:ext>
              </a:extLst>
            </p:cNvPr>
            <p:cNvSpPr/>
            <p:nvPr/>
          </p:nvSpPr>
          <p:spPr>
            <a:xfrm>
              <a:off x="207596" y="6427010"/>
              <a:ext cx="14668990" cy="1429658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Se procesaron lecturas de RNA-</a:t>
              </a:r>
              <a:r>
                <a:rPr lang="es-ES" dirty="0" err="1">
                  <a:solidFill>
                    <a:schemeClr val="tx1"/>
                  </a:solidFill>
                </a:rPr>
                <a:t>seq</a:t>
              </a:r>
              <a:r>
                <a:rPr lang="es-ES" dirty="0">
                  <a:solidFill>
                    <a:schemeClr val="tx1"/>
                  </a:solidFill>
                </a:rPr>
                <a:t> mediante cuantificación libre de alineamiento con </a:t>
              </a:r>
              <a:r>
                <a:rPr lang="es-ES" b="1" dirty="0">
                  <a:solidFill>
                    <a:schemeClr val="tx1"/>
                  </a:solidFill>
                </a:rPr>
                <a:t>Salmon</a:t>
              </a:r>
              <a:r>
                <a:rPr lang="es-ES" dirty="0">
                  <a:solidFill>
                    <a:schemeClr val="tx1"/>
                  </a:solidFill>
                </a:rPr>
                <a:t>. El análisis de expresión diferencial se realizó en </a:t>
              </a:r>
              <a:r>
                <a:rPr lang="es-ES" b="1" dirty="0">
                  <a:solidFill>
                    <a:schemeClr val="tx1"/>
                  </a:solidFill>
                </a:rPr>
                <a:t>R</a:t>
              </a:r>
              <a:r>
                <a:rPr lang="es-ES" dirty="0">
                  <a:solidFill>
                    <a:schemeClr val="tx1"/>
                  </a:solidFill>
                </a:rPr>
                <a:t> (</a:t>
              </a:r>
              <a:r>
                <a:rPr lang="es-ES" dirty="0" err="1">
                  <a:solidFill>
                    <a:schemeClr val="tx1"/>
                  </a:solidFill>
                </a:rPr>
                <a:t>Bioconductor</a:t>
              </a:r>
              <a:r>
                <a:rPr lang="es-ES" dirty="0">
                  <a:solidFill>
                    <a:schemeClr val="tx1"/>
                  </a:solidFill>
                </a:rPr>
                <a:t>) utilizando </a:t>
              </a:r>
              <a:r>
                <a:rPr lang="es-ES" b="1" dirty="0">
                  <a:solidFill>
                    <a:schemeClr val="tx1"/>
                  </a:solidFill>
                </a:rPr>
                <a:t>DESeq2</a:t>
              </a:r>
              <a:r>
                <a:rPr lang="es-ES" dirty="0">
                  <a:solidFill>
                    <a:schemeClr val="tx1"/>
                  </a:solidFill>
                </a:rPr>
                <a:t> (Wald test), ajustando por condición fenotípica. Se empleó la transformación </a:t>
              </a:r>
              <a:r>
                <a:rPr lang="es-ES" b="1" dirty="0" err="1">
                  <a:solidFill>
                    <a:schemeClr val="tx1"/>
                  </a:solidFill>
                </a:rPr>
                <a:t>rlog</a:t>
              </a:r>
              <a:r>
                <a:rPr lang="es-ES" dirty="0">
                  <a:solidFill>
                    <a:schemeClr val="tx1"/>
                  </a:solidFill>
                </a:rPr>
                <a:t> para la reducción dimensional (PCA) y visualización (</a:t>
              </a:r>
              <a:r>
                <a:rPr lang="es-ES" dirty="0" err="1">
                  <a:solidFill>
                    <a:schemeClr val="tx1"/>
                  </a:solidFill>
                </a:rPr>
                <a:t>Heatmap</a:t>
              </a:r>
              <a:r>
                <a:rPr lang="es-ES" dirty="0">
                  <a:solidFill>
                    <a:schemeClr val="tx1"/>
                  </a:solidFill>
                </a:rPr>
                <a:t>), filtrando genes significativos con p-</a:t>
              </a:r>
              <a:r>
                <a:rPr lang="es-ES" dirty="0" err="1">
                  <a:solidFill>
                    <a:schemeClr val="tx1"/>
                  </a:solidFill>
                </a:rPr>
                <a:t>adj</a:t>
              </a:r>
              <a:r>
                <a:rPr lang="es-ES" dirty="0">
                  <a:solidFill>
                    <a:schemeClr val="tx1"/>
                  </a:solidFill>
                </a:rPr>
                <a:t> &lt; 0.05 para la identificación de biomarcadores. </a:t>
              </a:r>
            </a:p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F33D0645-E9FA-A931-364E-3210E3E69D6A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20BD9571-E0A9-AB44-7B64-0F522BA4288F}"/>
              </a:ext>
            </a:extLst>
          </p:cNvPr>
          <p:cNvGrpSpPr/>
          <p:nvPr/>
        </p:nvGrpSpPr>
        <p:grpSpPr>
          <a:xfrm>
            <a:off x="225181" y="17303689"/>
            <a:ext cx="9095800" cy="3844742"/>
            <a:chOff x="225181" y="17303689"/>
            <a:chExt cx="9095800" cy="3844742"/>
          </a:xfrm>
        </p:grpSpPr>
        <p:sp>
          <p:nvSpPr>
            <p:cNvPr id="22" name="Rectángulo redondeado 21">
              <a:extLst>
                <a:ext uri="{FF2B5EF4-FFF2-40B4-BE49-F238E27FC236}">
                  <a16:creationId xmlns:a16="http://schemas.microsoft.com/office/drawing/2014/main" id="{381B9892-98E6-4609-C6F1-567DBF51A163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r>
                <a:rPr lang="es-ES" dirty="0">
                  <a:solidFill>
                    <a:schemeClr val="tx1"/>
                  </a:solidFill>
                </a:rPr>
                <a:t>Los resultados revelan un fenotipo de obesidad caracterizado por la disrupción severa del eje adiposo-cerebral. La </a:t>
              </a:r>
              <a:r>
                <a:rPr lang="es-ES" dirty="0" err="1">
                  <a:solidFill>
                    <a:schemeClr val="tx1"/>
                  </a:solidFill>
                </a:rPr>
                <a:t>infraexpresión</a:t>
              </a:r>
              <a:r>
                <a:rPr lang="es-ES" dirty="0">
                  <a:solidFill>
                    <a:schemeClr val="tx1"/>
                  </a:solidFill>
                </a:rPr>
                <a:t> significativa de </a:t>
              </a:r>
              <a:r>
                <a:rPr lang="es-ES" b="1" dirty="0">
                  <a:solidFill>
                    <a:schemeClr val="tx1"/>
                  </a:solidFill>
                </a:rPr>
                <a:t>LEP</a:t>
              </a:r>
              <a:r>
                <a:rPr lang="es-ES" dirty="0">
                  <a:solidFill>
                    <a:schemeClr val="tx1"/>
                  </a:solidFill>
                </a:rPr>
                <a:t> (Leptina) y </a:t>
              </a:r>
              <a:r>
                <a:rPr lang="es-ES" b="1" dirty="0">
                  <a:solidFill>
                    <a:schemeClr val="tx1"/>
                  </a:solidFill>
                </a:rPr>
                <a:t>NTRK2</a:t>
              </a:r>
              <a:r>
                <a:rPr lang="es-ES" dirty="0">
                  <a:solidFill>
                    <a:schemeClr val="tx1"/>
                  </a:solidFill>
                </a:rPr>
                <a:t> sugiere un doble fallo molecular: ausencia de señalización de saciedad periférica e incapacidad central para detener la ingesta. La sobreexpresión de </a:t>
              </a:r>
              <a:r>
                <a:rPr lang="es-ES" b="1" dirty="0">
                  <a:solidFill>
                    <a:schemeClr val="tx1"/>
                  </a:solidFill>
                </a:rPr>
                <a:t>LEPR</a:t>
              </a:r>
              <a:r>
                <a:rPr lang="es-ES" dirty="0">
                  <a:solidFill>
                    <a:schemeClr val="tx1"/>
                  </a:solidFill>
                </a:rPr>
                <a:t> indica un mecanismo compensatorio fallido ante la </a:t>
              </a:r>
              <a:r>
                <a:rPr lang="es-ES" dirty="0" err="1">
                  <a:solidFill>
                    <a:schemeClr val="tx1"/>
                  </a:solidFill>
                </a:rPr>
                <a:t>hipoleptinemia</a:t>
              </a:r>
              <a:r>
                <a:rPr lang="es-ES" dirty="0">
                  <a:solidFill>
                    <a:schemeClr val="tx1"/>
                  </a:solidFill>
                </a:rPr>
                <a:t>, confirmando una base genética de la hiperfagia no regulable por dieta estándar.</a:t>
              </a:r>
            </a:p>
          </p:txBody>
        </p:sp>
        <p:sp>
          <p:nvSpPr>
            <p:cNvPr id="23" name="Rectángulo redondeado 22">
              <a:extLst>
                <a:ext uri="{FF2B5EF4-FFF2-40B4-BE49-F238E27FC236}">
                  <a16:creationId xmlns:a16="http://schemas.microsoft.com/office/drawing/2014/main" id="{A2D4C693-7BBD-E0C1-588A-41A91139D35B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23B4F90-B675-90D5-3A62-801C71241135}"/>
              </a:ext>
            </a:extLst>
          </p:cNvPr>
          <p:cNvGrpSpPr/>
          <p:nvPr/>
        </p:nvGrpSpPr>
        <p:grpSpPr>
          <a:xfrm>
            <a:off x="9527458" y="17303689"/>
            <a:ext cx="5366712" cy="3844742"/>
            <a:chOff x="7784856" y="17303689"/>
            <a:chExt cx="7109314" cy="3844742"/>
          </a:xfrm>
        </p:grpSpPr>
        <p:sp>
          <p:nvSpPr>
            <p:cNvPr id="24" name="Rectángulo redondeado 23">
              <a:extLst>
                <a:ext uri="{FF2B5EF4-FFF2-40B4-BE49-F238E27FC236}">
                  <a16:creationId xmlns:a16="http://schemas.microsoft.com/office/drawing/2014/main" id="{C0FDA565-7231-A04B-604B-CBBA360FA2A9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dirty="0">
                  <a:solidFill>
                    <a:schemeClr val="tx1"/>
                  </a:solidFill>
                </a:rPr>
                <a:t>El análisis de expresión diferencial identifica una firma molecular de obesidad monogénica definida por el silenciamiento de vías de saciedad (</a:t>
              </a:r>
              <a:r>
                <a:rPr lang="es-ES" i="1" dirty="0">
                  <a:solidFill>
                    <a:schemeClr val="tx1"/>
                  </a:solidFill>
                </a:rPr>
                <a:t>LEP</a:t>
              </a:r>
              <a:r>
                <a:rPr lang="es-ES" dirty="0">
                  <a:solidFill>
                    <a:schemeClr val="tx1"/>
                  </a:solidFill>
                </a:rPr>
                <a:t>, </a:t>
              </a:r>
              <a:r>
                <a:rPr lang="es-ES" i="1" dirty="0">
                  <a:solidFill>
                    <a:schemeClr val="tx1"/>
                  </a:solidFill>
                </a:rPr>
                <a:t>NTRK2</a:t>
              </a:r>
              <a:r>
                <a:rPr lang="es-ES" dirty="0">
                  <a:solidFill>
                    <a:schemeClr val="tx1"/>
                  </a:solidFill>
                </a:rPr>
                <a:t>, </a:t>
              </a:r>
              <a:r>
                <a:rPr lang="es-ES" i="1" dirty="0">
                  <a:solidFill>
                    <a:schemeClr val="tx1"/>
                  </a:solidFill>
                </a:rPr>
                <a:t>MC4R</a:t>
              </a:r>
              <a:r>
                <a:rPr lang="es-ES" dirty="0">
                  <a:solidFill>
                    <a:schemeClr val="tx1"/>
                  </a:solidFill>
                </a:rPr>
                <a:t>), independiente de factores ambientales. Como limitación, el tamaño muestral requiere validación funcional. Este perfil sugiere la necesidad de estrategias de Nutrición de Precisión o terapia génica que no dependan de la vía de la leptina.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Rectángulo redondeado 24">
              <a:extLst>
                <a:ext uri="{FF2B5EF4-FFF2-40B4-BE49-F238E27FC236}">
                  <a16:creationId xmlns:a16="http://schemas.microsoft.com/office/drawing/2014/main" id="{0097D6A2-C865-70C9-C895-A45D8FA392DF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70274CC9-2241-1244-4118-364EC63C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8F6A5FD5-7463-A593-72C7-F0E4EB285025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DE58BDFA-8AF2-7019-7FBC-D37E50AE4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AE74DE59-F695-8E93-09D0-A92C58D17992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A8921268-A726-C96C-B743-206883618C91}"/>
              </a:ext>
            </a:extLst>
          </p:cNvPr>
          <p:cNvSpPr/>
          <p:nvPr/>
        </p:nvSpPr>
        <p:spPr>
          <a:xfrm>
            <a:off x="677955" y="1320342"/>
            <a:ext cx="13763441" cy="1981203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Análisis </a:t>
            </a:r>
            <a:r>
              <a:rPr kumimoji="0" lang="es-E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Transcriptómico</a:t>
            </a:r>
            <a:r>
              <a:rPr kumimoji="0" lang="es-E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Diferencial de la Obesidad Monogénica Familiar mediante RNA-</a:t>
            </a:r>
            <a:r>
              <a:rPr kumimoji="0" lang="es-ES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</a:t>
            </a:r>
            <a:endParaRPr kumimoji="0" lang="es-ES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36" name="Rectángulo redondeado 1035">
            <a:extLst>
              <a:ext uri="{FF2B5EF4-FFF2-40B4-BE49-F238E27FC236}">
                <a16:creationId xmlns:a16="http://schemas.microsoft.com/office/drawing/2014/main" id="{AFAF9801-11D6-F874-E9A8-A3E0E4590764}"/>
              </a:ext>
            </a:extLst>
          </p:cNvPr>
          <p:cNvSpPr/>
          <p:nvPr/>
        </p:nvSpPr>
        <p:spPr>
          <a:xfrm>
            <a:off x="518258" y="7962984"/>
            <a:ext cx="13959752" cy="82839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80000"/>
              </a:lnSpc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1. </a:t>
            </a:r>
            <a:r>
              <a:rPr lang="es-ES" i="1" dirty="0" err="1">
                <a:solidFill>
                  <a:schemeClr val="tx1"/>
                </a:solidFill>
              </a:rPr>
              <a:t>Volcano</a:t>
            </a:r>
            <a:r>
              <a:rPr lang="es-ES" i="1" dirty="0">
                <a:solidFill>
                  <a:schemeClr val="tx1"/>
                </a:solidFill>
              </a:rPr>
              <a:t> </a:t>
            </a:r>
            <a:r>
              <a:rPr lang="es-ES" i="1" dirty="0" err="1">
                <a:solidFill>
                  <a:schemeClr val="tx1"/>
                </a:solidFill>
              </a:rPr>
              <a:t>Plot</a:t>
            </a:r>
            <a:r>
              <a:rPr lang="es-ES" i="1" dirty="0">
                <a:solidFill>
                  <a:schemeClr val="tx1"/>
                </a:solidFill>
              </a:rPr>
              <a:t> destacando la regulación diferencial significativa: </a:t>
            </a:r>
            <a:r>
              <a:rPr lang="es-ES" i="1" dirty="0" err="1">
                <a:solidFill>
                  <a:schemeClr val="tx1"/>
                </a:solidFill>
              </a:rPr>
              <a:t>infraexpresión</a:t>
            </a:r>
            <a:r>
              <a:rPr lang="es-ES" i="1" dirty="0">
                <a:solidFill>
                  <a:schemeClr val="tx1"/>
                </a:solidFill>
              </a:rPr>
              <a:t> de LEP y NTRK2 frente a la sobreexpresión compensatoria de LEPR.</a:t>
            </a:r>
            <a:r>
              <a:rPr lang="es-ES" dirty="0">
                <a:solidFill>
                  <a:schemeClr val="tx1"/>
                </a:solidFill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37" name="Rectángulo redondeado 1036">
            <a:extLst>
              <a:ext uri="{FF2B5EF4-FFF2-40B4-BE49-F238E27FC236}">
                <a16:creationId xmlns:a16="http://schemas.microsoft.com/office/drawing/2014/main" id="{60842445-E351-8E63-2B2D-F06DA2DB4243}"/>
              </a:ext>
            </a:extLst>
          </p:cNvPr>
          <p:cNvSpPr/>
          <p:nvPr/>
        </p:nvSpPr>
        <p:spPr>
          <a:xfrm>
            <a:off x="518258" y="11728319"/>
            <a:ext cx="6692011" cy="82839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80000"/>
              </a:lnSpc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2. </a:t>
            </a:r>
            <a:r>
              <a:rPr lang="es-ES" dirty="0">
                <a:solidFill>
                  <a:schemeClr val="tx1"/>
                </a:solidFill>
              </a:rPr>
              <a:t>Mapa de calor de los 20 genes más significativos. Se observa un patrón de expresión opuesto en genes reguladores (</a:t>
            </a:r>
            <a:r>
              <a:rPr lang="es-ES" i="1" dirty="0">
                <a:solidFill>
                  <a:schemeClr val="tx1"/>
                </a:solidFill>
              </a:rPr>
              <a:t>LEP</a:t>
            </a:r>
            <a:r>
              <a:rPr lang="es-ES" dirty="0">
                <a:solidFill>
                  <a:schemeClr val="tx1"/>
                </a:solidFill>
              </a:rPr>
              <a:t>, </a:t>
            </a:r>
            <a:r>
              <a:rPr lang="es-ES" i="1" dirty="0">
                <a:solidFill>
                  <a:schemeClr val="tx1"/>
                </a:solidFill>
              </a:rPr>
              <a:t>LEPR</a:t>
            </a:r>
            <a:r>
              <a:rPr lang="es-ES" dirty="0">
                <a:solidFill>
                  <a:schemeClr val="tx1"/>
                </a:solidFill>
              </a:rPr>
              <a:t>) entre condiciones. 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38" name="Rectángulo redondeado 1037">
            <a:extLst>
              <a:ext uri="{FF2B5EF4-FFF2-40B4-BE49-F238E27FC236}">
                <a16:creationId xmlns:a16="http://schemas.microsoft.com/office/drawing/2014/main" id="{20F2FDA8-F2AE-8EC6-EFD0-E92D4FCAEDFB}"/>
              </a:ext>
            </a:extLst>
          </p:cNvPr>
          <p:cNvSpPr/>
          <p:nvPr/>
        </p:nvSpPr>
        <p:spPr>
          <a:xfrm>
            <a:off x="7697422" y="11731057"/>
            <a:ext cx="6692011" cy="89239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80000"/>
              </a:lnSpc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3. </a:t>
            </a:r>
            <a:r>
              <a:rPr lang="es-ES" i="1" dirty="0">
                <a:solidFill>
                  <a:schemeClr val="tx1"/>
                </a:solidFill>
              </a:rPr>
              <a:t>Análisis de Componentes Principales (PCA) mostrando la clara segregación transcriptómica entre el grupo de Obesidad y el grupo Control.</a:t>
            </a:r>
          </a:p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31630AAA-30E2-3329-6CD6-13A5A6D770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601" y="12946251"/>
            <a:ext cx="4865070" cy="4034639"/>
          </a:xfrm>
          <a:prstGeom prst="rect">
            <a:avLst/>
          </a:prstGeom>
        </p:spPr>
      </p:pic>
      <p:pic>
        <p:nvPicPr>
          <p:cNvPr id="13" name="Imagen 12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00AD6850-92E5-37C1-7DA1-C0A4F4FEC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681" y="12946251"/>
            <a:ext cx="4066208" cy="3372137"/>
          </a:xfrm>
          <a:prstGeom prst="rect">
            <a:avLst/>
          </a:prstGeom>
        </p:spPr>
      </p:pic>
      <p:pic>
        <p:nvPicPr>
          <p:cNvPr id="20" name="Imagen 19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907669FA-CD8A-62B3-BD10-E2C542ED5D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120" y="9107896"/>
            <a:ext cx="3005561" cy="249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02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Props1.xml><?xml version="1.0" encoding="utf-8"?>
<ds:datastoreItem xmlns:ds="http://schemas.openxmlformats.org/officeDocument/2006/customXml" ds:itemID="{EA933766-0056-42DC-9416-E7C06BCFC0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3E95016-93A9-4903-BA02-7A05B5939C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8B5577-5CCE-4E9D-BDFA-952900719EE2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</TotalTime>
  <Words>343</Words>
  <Application>Microsoft Office PowerPoint</Application>
  <PresentationFormat>Personalizado</PresentationFormat>
  <Paragraphs>13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José Antonio Celada</cp:lastModifiedBy>
  <cp:revision>16</cp:revision>
  <dcterms:created xsi:type="dcterms:W3CDTF">2025-04-21T10:03:24Z</dcterms:created>
  <dcterms:modified xsi:type="dcterms:W3CDTF">2025-12-21T16:12:09Z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